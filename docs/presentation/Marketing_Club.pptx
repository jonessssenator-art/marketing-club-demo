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7f28e964646b3" /><Relationship Type="http://schemas.openxmlformats.org/officeDocument/2006/relationships/extended-properties" Target="/docProps/app.xml" Id="Ra6d113ab63e74c4a" /><Relationship Type="http://schemas.openxmlformats.org/officeDocument/2006/relationships/officeDocument" Target="/ppt/presentation.xml" Id="R35547cd8729c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8fd629b1d4e3d"/>
  </p:sldMasterIdLst>
  <p:notesMasterIdLst>
    <p:notesMasterId xmlns:r="http://schemas.openxmlformats.org/officeDocument/2006/relationships" r:id="R4f11e193d35e4b8f"/>
  </p:notesMasterIdLst>
  <p:sldIdLst>
    <p:sldId xmlns:r="http://schemas.openxmlformats.org/officeDocument/2006/relationships" id="256" r:id="R393d71dfaf0f414f"/>
    <p:sldId xmlns:r="http://schemas.openxmlformats.org/officeDocument/2006/relationships" id="257" r:id="Ra0c7c8b316ae407e"/>
    <p:sldId xmlns:r="http://schemas.openxmlformats.org/officeDocument/2006/relationships" id="258" r:id="Rae80778ad2cb4eef"/>
    <p:sldId xmlns:r="http://schemas.openxmlformats.org/officeDocument/2006/relationships" id="259" r:id="R8aea48e9a3fe4f41"/>
    <p:sldId xmlns:r="http://schemas.openxmlformats.org/officeDocument/2006/relationships" id="260" r:id="R11c53e9536964200"/>
    <p:sldId xmlns:r="http://schemas.openxmlformats.org/officeDocument/2006/relationships" id="261" r:id="R46845bf7e1994c1a"/>
    <p:sldId xmlns:r="http://schemas.openxmlformats.org/officeDocument/2006/relationships" id="262" r:id="R1a509a110bbd4f5a"/>
    <p:sldId xmlns:r="http://schemas.openxmlformats.org/officeDocument/2006/relationships" id="263" r:id="R1bb60a599bef4d9d"/>
    <p:sldId xmlns:r="http://schemas.openxmlformats.org/officeDocument/2006/relationships" id="264" r:id="R80eb9a2d5b814e90"/>
    <p:sldId xmlns:r="http://schemas.openxmlformats.org/officeDocument/2006/relationships" id="265" r:id="Rbc50cfe1c6604232"/>
    <p:sldId xmlns:r="http://schemas.openxmlformats.org/officeDocument/2006/relationships" id="266" r:id="Rfadc0a38f37d4e57"/>
    <p:sldId xmlns:r="http://schemas.openxmlformats.org/officeDocument/2006/relationships" id="267" r:id="R527ec5d36afe4478"/>
    <p:sldId xmlns:r="http://schemas.openxmlformats.org/officeDocument/2006/relationships" id="268" r:id="Re29eeb35580446b7"/>
    <p:sldId xmlns:r="http://schemas.openxmlformats.org/officeDocument/2006/relationships" id="269" r:id="R79e798aac7054d85"/>
    <p:sldId xmlns:r="http://schemas.openxmlformats.org/officeDocument/2006/relationships" id="270" r:id="R5f90cc61d0d24be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cc0f567620452a" /><Relationship Type="http://schemas.openxmlformats.org/officeDocument/2006/relationships/slideMaster" Target="/ppt/slideMasters/slideMaster1.xml" Id="Rbbb8fd629b1d4e3d" /><Relationship Type="http://schemas.openxmlformats.org/officeDocument/2006/relationships/notesMaster" Target="/ppt/notesMasters/notesMaster1.xml" Id="R4f11e193d35e4b8f" /><Relationship Type="http://schemas.openxmlformats.org/officeDocument/2006/relationships/presProps" Target="/ppt/presProps.xml" Id="R3131821b909d48e3" /><Relationship Type="http://schemas.openxmlformats.org/officeDocument/2006/relationships/tableStyles" Target="/ppt/tableStyles.xml" Id="R4145c387f3de427e" /><Relationship Type="http://schemas.openxmlformats.org/officeDocument/2006/relationships/slide" Target="/ppt/slides/slide1.xml" Id="R393d71dfaf0f414f" /><Relationship Type="http://schemas.openxmlformats.org/officeDocument/2006/relationships/slide" Target="/ppt/slides/slide2.xml" Id="Ra0c7c8b316ae407e" /><Relationship Type="http://schemas.openxmlformats.org/officeDocument/2006/relationships/slide" Target="/ppt/slides/slide3.xml" Id="Rae80778ad2cb4eef" /><Relationship Type="http://schemas.openxmlformats.org/officeDocument/2006/relationships/slide" Target="/ppt/slides/slide4.xml" Id="R8aea48e9a3fe4f41" /><Relationship Type="http://schemas.openxmlformats.org/officeDocument/2006/relationships/slide" Target="/ppt/slides/slide5.xml" Id="R11c53e9536964200" /><Relationship Type="http://schemas.openxmlformats.org/officeDocument/2006/relationships/slide" Target="/ppt/slides/slide6.xml" Id="R46845bf7e1994c1a" /><Relationship Type="http://schemas.openxmlformats.org/officeDocument/2006/relationships/slide" Target="/ppt/slides/slide7.xml" Id="R1a509a110bbd4f5a" /><Relationship Type="http://schemas.openxmlformats.org/officeDocument/2006/relationships/slide" Target="/ppt/slides/slide8.xml" Id="R1bb60a599bef4d9d" /><Relationship Type="http://schemas.openxmlformats.org/officeDocument/2006/relationships/slide" Target="/ppt/slides/slide9.xml" Id="R80eb9a2d5b814e90" /><Relationship Type="http://schemas.openxmlformats.org/officeDocument/2006/relationships/slide" Target="/ppt/slides/slide10.xml" Id="Rbc50cfe1c6604232" /><Relationship Type="http://schemas.openxmlformats.org/officeDocument/2006/relationships/slide" Target="/ppt/slides/slide11.xml" Id="Rfadc0a38f37d4e57" /><Relationship Type="http://schemas.openxmlformats.org/officeDocument/2006/relationships/slide" Target="/ppt/slides/slide12.xml" Id="R527ec5d36afe4478" /><Relationship Type="http://schemas.openxmlformats.org/officeDocument/2006/relationships/slide" Target="/ppt/slides/slide13.xml" Id="Re29eeb35580446b7" /><Relationship Type="http://schemas.openxmlformats.org/officeDocument/2006/relationships/slide" Target="/ppt/slides/slide14.xml" Id="R79e798aac7054d85" /><Relationship Type="http://schemas.openxmlformats.org/officeDocument/2006/relationships/slide" Target="/ppt/slides/slide15.xml" Id="R5f90cc61d0d24b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47e235e90b49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2862ab1f248e4" /><Relationship Type="http://schemas.openxmlformats.org/officeDocument/2006/relationships/notesMaster" Target="/ppt/notesMasters/notesMaster1.xml" Id="Rf2319f3bf62b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28cc9b9294bef" /><Relationship Type="http://schemas.openxmlformats.org/officeDocument/2006/relationships/notesMaster" Target="/ppt/notesMasters/notesMaster1.xml" Id="Re2a27260ea69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cd7349c4f42d5" /><Relationship Type="http://schemas.openxmlformats.org/officeDocument/2006/relationships/notesMaster" Target="/ppt/notesMasters/notesMaster1.xml" Id="R39c1daa3d519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5d00674484b0a" /><Relationship Type="http://schemas.openxmlformats.org/officeDocument/2006/relationships/notesMaster" Target="/ppt/notesMasters/notesMaster1.xml" Id="R32f50fdbfba449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f3c7f054e34cd6" /><Relationship Type="http://schemas.openxmlformats.org/officeDocument/2006/relationships/notesMaster" Target="/ppt/notesMasters/notesMaster1.xml" Id="R01eb24789d5a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91b904ac5c4a80" /><Relationship Type="http://schemas.openxmlformats.org/officeDocument/2006/relationships/notesMaster" Target="/ppt/notesMasters/notesMaster1.xml" Id="Raadd632a35cb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879bc434a24555" /><Relationship Type="http://schemas.openxmlformats.org/officeDocument/2006/relationships/notesMaster" Target="/ppt/notesMasters/notesMaster1.xml" Id="R8e7f10e419804c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eaa13d8da1499b" /><Relationship Type="http://schemas.openxmlformats.org/officeDocument/2006/relationships/notesMaster" Target="/ppt/notesMasters/notesMaster1.xml" Id="R5612b0a0413545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e9975454cc4f8a" /><Relationship Type="http://schemas.openxmlformats.org/officeDocument/2006/relationships/notesMaster" Target="/ppt/notesMasters/notesMaster1.xml" Id="R7e38bb79e9e64b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0661cf78424f1d" /><Relationship Type="http://schemas.openxmlformats.org/officeDocument/2006/relationships/notesMaster" Target="/ppt/notesMasters/notesMaster1.xml" Id="R2c648b2c774744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c3e335692c4dfe" /><Relationship Type="http://schemas.openxmlformats.org/officeDocument/2006/relationships/notesMaster" Target="/ppt/notesMasters/notesMaster1.xml" Id="R5aa3567b922e45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e922d087af4df4" /><Relationship Type="http://schemas.openxmlformats.org/officeDocument/2006/relationships/notesMaster" Target="/ppt/notesMasters/notesMaster1.xml" Id="R2c0737766ce942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5767600d4a4bd1" /><Relationship Type="http://schemas.openxmlformats.org/officeDocument/2006/relationships/notesMaster" Target="/ppt/notesMasters/notesMaster1.xml" Id="R19603b29b83d48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ab4b0d81ef487b" /><Relationship Type="http://schemas.openxmlformats.org/officeDocument/2006/relationships/notesMaster" Target="/ppt/notesMasters/notesMaster1.xml" Id="Rc6a0d9ec05974f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de91e8f78d470b" /><Relationship Type="http://schemas.openxmlformats.org/officeDocument/2006/relationships/notesMaster" Target="/ppt/notesMasters/notesMaster1.xml" Id="R6f62d0c5b781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Marketing Club. Концепция платформы. Логотип из текущего проекта, сохранён без изменения.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Концепция, интеграция пока не подключена. Иллюстрация возможного интерфейса. Источник возможностей WhatsApp Business: https://www.postman.com/meta/whatsapp-business-platform/collection/wlk6lh4/whatsapp-cloud-api . Возможности существующей группы требуют отдельной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 будущего раздела для администратора. Подлинные обложки публикаций аккаунта https://www.instagram.com/marketing.dagestan.ru/ от 04.10, 03.10 и 02.10.2026, просмотр 05.10.2026. Количество подписчиков 5658 на момент просмотра. Интерфейс демонстрационный, интеграция пока не подключена.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структуры аналитики. Обложка реальной публикации https://www.instagram.com/marketing.dagestan.ru/ . Числовые показатели не выдуманы: отображены прочерки, поскольку приватная статистика аккаунта не предоставлена. Доступность показателей зависит от разрешений Instagram.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Планируемая функция, расписание и темы являются примерами. Нужны профессиональный аккаунт, разрешение на публикацию и серверный планировщик. Источник: https://www.postman.com/meta/instagram/folder/y6xustx/reels-publishing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3988c1f2b46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88dbdb29040a7" /><Relationship Type="http://schemas.openxmlformats.org/officeDocument/2006/relationships/slideLayout" Target="/ppt/slideLayouts/slideLayout1.xml" Id="Rdf421ab76de7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21ab76de7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f57f1067da84418" /><ns0:Relationship Type="http://schemas.openxmlformats.org/officeDocument/2006/relationships/image" Target="/ppt/media/image.png" Id="Rf4c25dd278694cc5" /><ns0:Relationship Type="http://schemas.openxmlformats.org/officeDocument/2006/relationships/notesSlide" Target="/ppt/notesSlides/notesSlide1.xml" Id="R553aaddc628a40ec" /><ns0:Relationship Id="rIdAuthorTelegram" Type="http://schemas.openxmlformats.org/officeDocument/2006/relationships/hyperlink" Target="https://t.me/xxvii" TargetMode="Externa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bb0b301f42a4219" /><ns0:Relationship Type="http://schemas.openxmlformats.org/officeDocument/2006/relationships/image" Target="/ppt/media/image2.png" Id="R02670129b49b43fb" /><ns0:Relationship Type="http://schemas.openxmlformats.org/officeDocument/2006/relationships/notesSlide" Target="/ppt/notesSlides/notesSlide2.xml" Id="Rff8ad8b04e9f422c" /><ns0:Relationship Id="rIdAuthorTelegram" Type="http://schemas.openxmlformats.org/officeDocument/2006/relationships/hyperlink" Target="https://t.me/xxvii" TargetMode="Externa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1e52c870f7e4b44" /><ns0:Relationship Type="http://schemas.openxmlformats.org/officeDocument/2006/relationships/image" Target="/ppt/media/image3.png" Id="R86b761097ab247d7" /><ns0:Relationship Type="http://schemas.openxmlformats.org/officeDocument/2006/relationships/notesSlide" Target="/ppt/notesSlides/notesSlide3.xml" Id="R352693f9db7540fb" /><ns0:Relationship Id="rIdAuthorTelegram" Type="http://schemas.openxmlformats.org/officeDocument/2006/relationships/hyperlink" Target="https://t.me/xxvii" TargetMode="Externa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9979012b6f94df7" /><ns0:Relationship Type="http://schemas.openxmlformats.org/officeDocument/2006/relationships/image" Target="/ppt/media/image4.png" Id="Rd9c372d3f4914273" /><ns0:Relationship Type="http://schemas.openxmlformats.org/officeDocument/2006/relationships/notesSlide" Target="/ppt/notesSlides/notesSlide4.xml" Id="R85f18a2794544fb4" /><ns0:Relationship Id="rIdAuthorTelegram" Type="http://schemas.openxmlformats.org/officeDocument/2006/relationships/hyperlink" Target="https://t.me/xxvii" TargetMode="Externa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e730283f5b64b2c" /><ns0:Relationship Type="http://schemas.openxmlformats.org/officeDocument/2006/relationships/image" Target="/ppt/media/image5.png" Id="R5874d7ce024e4fbc" /><ns0:Relationship Type="http://schemas.openxmlformats.org/officeDocument/2006/relationships/image" Target="/ppt/media/image6.png" Id="R70299c55661f49a4" /><ns0:Relationship Type="http://schemas.openxmlformats.org/officeDocument/2006/relationships/image" Target="/ppt/media/image7.png" Id="Rb20978bfcdbb41b5" /><ns0:Relationship Type="http://schemas.openxmlformats.org/officeDocument/2006/relationships/image" Target="/ppt/media/image8.png" Id="R7b74975adb0f449a" /><ns0:Relationship Type="http://schemas.openxmlformats.org/officeDocument/2006/relationships/notesSlide" Target="/ppt/notesSlides/notesSlide5.xml" Id="R637660f23fb842a3" /><ns0:Relationship Id="rIdAuthorTelegram" Type="http://schemas.openxmlformats.org/officeDocument/2006/relationships/hyperlink" Target="https://t.me/xxvii" TargetMode="Externa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85bce0e6698496a" /><ns0:Relationship Type="http://schemas.openxmlformats.org/officeDocument/2006/relationships/image" Target="/ppt/media/image9.png" Id="R3041e6e2d1f64443" /><ns0:Relationship Type="http://schemas.openxmlformats.org/officeDocument/2006/relationships/notesSlide" Target="/ppt/notesSlides/notesSlide6.xml" Id="R4a5d402100dc49ec" /><ns0:Relationship Id="rIdAuthorTelegram" Type="http://schemas.openxmlformats.org/officeDocument/2006/relationships/hyperlink" Target="https://t.me/xxvii" TargetMode="Externa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bc3601e8fca45c0" /><ns0:Relationship Type="http://schemas.openxmlformats.org/officeDocument/2006/relationships/image" Target="/ppt/media/image10.png" Id="R0e26ae70c7a64e53" /><ns0:Relationship Type="http://schemas.openxmlformats.org/officeDocument/2006/relationships/notesSlide" Target="/ppt/notesSlides/notesSlide7.xml" Id="Rb618624a55ff453b" /><ns0:Relationship Id="rIdAuthorTelegram" Type="http://schemas.openxmlformats.org/officeDocument/2006/relationships/hyperlink" Target="https://t.me/xxvii" TargetMode="Externa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8d1ada638c14ab2" /><ns0:Relationship Type="http://schemas.openxmlformats.org/officeDocument/2006/relationships/image" Target="/ppt/media/image11.png" Id="R5728a1d1e87247c3" /><ns0:Relationship Type="http://schemas.openxmlformats.org/officeDocument/2006/relationships/notesSlide" Target="/ppt/notesSlides/notesSlide8.xml" Id="R0731928d78be4b8b" /><ns0:Relationship Id="rIdAuthorTelegram" Type="http://schemas.openxmlformats.org/officeDocument/2006/relationships/hyperlink" Target="https://t.me/xxvii" TargetMode="External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e42c02523c2439e" /><ns0:Relationship Type="http://schemas.openxmlformats.org/officeDocument/2006/relationships/image" Target="/ppt/media/image12.png" Id="R984255b6335948ce" /><ns0:Relationship Type="http://schemas.openxmlformats.org/officeDocument/2006/relationships/notesSlide" Target="/ppt/notesSlides/notesSlide9.xml" Id="R83674963adcf4761" /><ns0:Relationship Id="rIdAuthorTelegram" Type="http://schemas.openxmlformats.org/officeDocument/2006/relationships/hyperlink" Target="https://t.me/xxvii" TargetMode="External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4245f3437314a0d" /><ns0:Relationship Type="http://schemas.openxmlformats.org/officeDocument/2006/relationships/image" Target="/ppt/media/image13.png" Id="R0a420ddff3514457" /><ns0:Relationship Type="http://schemas.openxmlformats.org/officeDocument/2006/relationships/image" Target="/ppt/media/image14.png" Id="Rc3d15bcefe6447b2" /><ns0:Relationship Type="http://schemas.openxmlformats.org/officeDocument/2006/relationships/notesSlide" Target="/ppt/notesSlides/notesSlide10.xml" Id="Re2385349eac04986" /><ns0:Relationship Id="rIdAuthorTelegram" Type="http://schemas.openxmlformats.org/officeDocument/2006/relationships/hyperlink" Target="https://t.me/xxvii" TargetMode="External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fb149005cfd438e" /><ns0:Relationship Type="http://schemas.openxmlformats.org/officeDocument/2006/relationships/image" Target="/ppt/media/image15.png" Id="Raa0b33742d7a46d2" /><ns0:Relationship Type="http://schemas.openxmlformats.org/officeDocument/2006/relationships/image" Target="/ppt/media/image16.png" Id="R5b853ae38e2b45ed" /><ns0:Relationship Type="http://schemas.openxmlformats.org/officeDocument/2006/relationships/notesSlide" Target="/ppt/notesSlides/notesSlide11.xml" Id="Rdd0c5e1305504f25" /><ns0:Relationship Id="rIdAuthorTelegram" Type="http://schemas.openxmlformats.org/officeDocument/2006/relationships/hyperlink" Target="https://t.me/xxvii" TargetMode="External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a21be1d7e454c36" /><ns0:Relationship Type="http://schemas.openxmlformats.org/officeDocument/2006/relationships/image" Target="/ppt/media/image17.png" Id="Rf68ecd82f6c544cc" /><ns0:Relationship Type="http://schemas.openxmlformats.org/officeDocument/2006/relationships/notesSlide" Target="/ppt/notesSlides/notesSlide12.xml" Id="R9b41a7f71a4f434b" /><ns0:Relationship Id="rIdAuthorTelegram" Type="http://schemas.openxmlformats.org/officeDocument/2006/relationships/hyperlink" Target="https://t.me/xxvii" TargetMode="External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274bb511a6946c2" /><ns0:Relationship Type="http://schemas.openxmlformats.org/officeDocument/2006/relationships/image" Target="/ppt/media/image18.png" Id="Ra30db518ee984dbe" /><ns0:Relationship Type="http://schemas.openxmlformats.org/officeDocument/2006/relationships/notesSlide" Target="/ppt/notesSlides/notesSlide13.xml" Id="R0ae73d10db024106" /><ns0:Relationship Id="rIdAuthorTelegram" Type="http://schemas.openxmlformats.org/officeDocument/2006/relationships/hyperlink" Target="https://t.me/xxvii" TargetMode="External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c3157adebe4ee2" /><ns0:Relationship Type="http://schemas.openxmlformats.org/officeDocument/2006/relationships/image" Target="/ppt/media/image19.png" Id="Rd3a7d1276bbe4bec" /><ns0:Relationship Type="http://schemas.openxmlformats.org/officeDocument/2006/relationships/notesSlide" Target="/ppt/notesSlides/notesSlide14.xml" Id="R6e5e63affcb14b2c" /><ns0:Relationship Id="rIdAuthorTelegram" Type="http://schemas.openxmlformats.org/officeDocument/2006/relationships/hyperlink" Target="https://t.me/xxvii" TargetMode="External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f920ab3a83f4518" /><ns0:Relationship Type="http://schemas.openxmlformats.org/officeDocument/2006/relationships/notesSlide" Target="/ppt/notesSlides/notesSlide15.xml" Id="Rdaeb6d2babef4635" /><ns0:Relationship Id="rIdAuthorTelegram" Type="http://schemas.openxmlformats.org/officeDocument/2006/relationships/hyperlink" Target="https://t.me/xxvii" TargetMode="Externa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7140CC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8" name=""/>
          <ns0:cNvPicPr>
            <ns1:picLocks noChangeAspect="1"/>
          </ns0:cNvPicPr>
          <ns0:nvPr/>
        </ns0:nvPicPr>
        <ns0:blipFill>
          <ns1:blip ns2:embed="Rf4c25dd278694cc5"/>
          <ns1:stretch/>
        </ns0:blipFill>
        <ns0:spPr>
          <ns1:xfrm>
            <ns1:off x="11620500" y="2762250"/>
            <ns1:ext cx="2524125" cy="2524125"/>
          </ns1:xfrm>
          <ns1:prstGeom prst="ellipse">
            <ns1:avLst/>
          </ns1:prstGeom>
        </ns0:spPr>
      </ns0:pic>
      <ns0:sp>
        <ns0:nvSpPr>
          <ns0:cNvPr id="2" name="">
            <ns1:extLst>
              <ns1:ext uri="{FF2B5EF4-FFF2-40B4-BE49-F238E27FC236}">
                <ns3:creationId id="{2FCA9715-392D-4159-8359-CAB478BE00C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657225"/>
            <ns1:ext cx="1047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725" b="0">
                <ns1:solidFill>
                  <ns1:srgbClr val="E9DDF9"/>
                </ns1:solidFill>
                <ns1:latin typeface="Arial"/>
                <ns1:ea typeface="Arial"/>
                <ns1:cs typeface="Arial"/>
              </ns1:defRPr>
            </ns1:pPr>
            <ns1:r>
              <ns1:rPr sz="1725" b="0">
                <ns1:solidFill>
                  <ns1:srgbClr val="E9DDF9"/>
                </ns1:solidFill>
                <ns1:latin typeface="Arial"/>
                <ns1:ea typeface="Arial"/>
                <ns1:cs typeface="Arial"/>
              </ns1:rPr>
              <ns1:t>КЛУБ МАРКЕТОЛОГОВ ДАГЕСТАНА</ns1:t>
            </ns1:r>
          </ns1:p>
        </ns0:txBody>
      </ns0:sp>
      <ns0:sp>
        <ns0:nvSpPr>
          <ns0:cNvPr id="3" name="">
            <ns1:extLst>
              <ns1:ext uri="{FF2B5EF4-FFF2-40B4-BE49-F238E27FC236}">
                <ns3:creationId id="{EBD99230-A621-4D58-8D47-F9803D1B077A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2105025"/>
            <ns1:ext cx="13811250" cy="16192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0725" b="1">
                <ns1:solidFill>
                  <ns1:srgbClr val="C0F52D"/>
                </ns1:solidFill>
                <ns1:latin typeface="Arial"/>
                <ns1:ea typeface="Arial"/>
                <ns1:cs typeface="Arial"/>
              </ns1:defRPr>
            </ns1:pPr>
            <ns1:r>
              <ns1:rPr sz="10725" b="1">
                <ns1:solidFill>
                  <ns1:srgbClr val="C0F52D"/>
                </ns1:solidFill>
                <ns1:latin typeface="Arial"/>
                <ns1:ea typeface="Arial"/>
                <ns1:cs typeface="Arial"/>
              </ns1:rPr>
              <ns1:t>MARKETING</ns1:t>
            </ns1:r>
          </ns1:p>
        </ns0:txBody>
      </ns0:sp>
      <ns0:sp>
        <ns0:nvSpPr>
          <ns0:cNvPr id="4" name="">
            <ns1:extLst>
              <ns1:ext uri="{FF2B5EF4-FFF2-40B4-BE49-F238E27FC236}">
                <ns3:creationId id="{ED644691-6B2A-43BB-B449-2D9F624C75E3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3581400"/>
            <ns1:ext cx="9525000" cy="16573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0725" b="1">
                <ns1:solidFill>
                  <ns1:srgbClr val="C0F52D"/>
                </ns1:solidFill>
                <ns1:latin typeface="Arial"/>
                <ns1:ea typeface="Arial"/>
                <ns1:cs typeface="Arial"/>
              </ns1:defRPr>
            </ns1:pPr>
            <ns1:r>
              <ns1:rPr sz="10725" b="1">
                <ns1:solidFill>
                  <ns1:srgbClr val="C0F52D"/>
                </ns1:solidFill>
                <ns1:latin typeface="Arial"/>
                <ns1:ea typeface="Arial"/>
                <ns1:cs typeface="Arial"/>
              </ns1:rPr>
              <ns1:t>CLUB</ns1:t>
            </ns1:r>
          </ns1:p>
        </ns0:txBody>
      </ns0:sp>
      <ns0:sp>
        <ns0:nvSpPr>
          <ns0:cNvPr id="5" name="">
            <ns1:extLst>
              <ns1:ext uri="{FF2B5EF4-FFF2-40B4-BE49-F238E27FC236}">
                <ns3:creationId id="{C804D0BC-1755-40DF-9F72-5AF162B2DE33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6010275"/>
            <ns1:ext cx="11334750" cy="10668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3600" b="0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3600" b="0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Платформа для участников</ns1:t>
            </ns1:r>
          </ns1:p>
          <ns1:p>
            <ns1:pPr>
              <ns1:defRPr sz="3600" b="0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3600" b="0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и управления клубом</ns1:t>
            </ns1:r>
          </ns1:p>
        </ns0:txBody>
      </ns0:sp>
      <ns0:sp>
        <ns0:nvSpPr>
          <ns0:cNvPr id="6" name="">
            <ns1:extLst>
              <ns1:ext uri="{FF2B5EF4-FFF2-40B4-BE49-F238E27FC236}">
                <ns3:creationId id="{C1CFFCA3-ECC0-44C6-B57C-E5B1B465DC9D}"/>
              </ns1:ext>
            </ns1:extLst>
          </ns0:cNvPr>
          <ns0:cNvSpPr>
            <ns1:spLocks noGrp="1"/>
          </ns0:cNvSpPr>
          <ns0:nvPr/>
        </ns0:nvSpPr>
        <ns0:spPr>
          <ns1:xfrm>
            <ns1:off x="676275" y="7515225"/>
            <ns1:ext cx="11430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E9DDF9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E9DDF9"/>
                </ns1:solidFill>
                <ns1:latin typeface="Arial"/>
                <ns1:ea typeface="Arial"/>
                <ns1:cs typeface="Arial"/>
              </ns1:rPr>
              <ns1:t>Анкеты, материалы и дела клуба в одном месте</ns1:t>
            </ns1:r>
          </ns1:p>
        </ns0:txBody>
      </ns0:sp>
      <ns0:sp>
        <ns0:nvSpPr>
          <ns0:cNvPr id="7" name="">
            <ns1:extLst>
              <ns1:ext uri="{FF2B5EF4-FFF2-40B4-BE49-F238E27FC236}">
                <ns3:creationId id="{847FB88B-C18C-4243-B2D4-C3B51FCFC645}"/>
              </ns1:ext>
            </ns1:extLst>
            <ns1:hlinkClick ns2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E9DDF9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E9DDF9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</ns0:spTree>
    <ns0:extLst>
      <ns0:ext uri="{BB962C8B-B14F-4D97-AF65-F5344CB8AC3E}">
        <ns4:creationId val="169102106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037160A7-4C92-47CE-9099-2014774C24F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8D7FC3D8-321D-4E19-B83C-D9AC8C35F9AA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8C8FA9A1-6776-4374-92C0-F8E502CD800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Участнику: обзор и личная анкета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8A89F82-3E0F-43C4-AA78-563306D2BFC6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Новости клуба и информация о себе всегда под рукой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4913C89A-069D-4F63-A910-DE8217A372EE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2FA69F9-276A-4F8E-9FE4-881439A9E4A6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Обзор клуба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93213815-1238-4DC1-B016-5A044FE3CD2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Главная страница с новостями и анонсами. Здесь видно, что происходит в клубе и когда пройдёт ближайшая встреча.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CC372A9-BA98-4FAE-9DCC-1814AAACE5D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8577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Моя анкета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2C58D758-A71C-48CE-98D2-60581DD3437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625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Участник сам обновляет фото, рассказывает о работе и проектах. Указывает, чем может помочь и с кем хочет познакомиться.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DD9251F8-6A43-4A57-9FBD-0E33CC9035B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077075"/>
            <ns1:ext cx="4572000" cy="800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Не нужно каждый раз отправлять новую анкету администратору.</ns1:t>
            </ns1:r>
          </ns1:p>
        </ns0:txBody>
      </ns0:sp>
      <ns0:pic>
        <ns0:nvPicPr>
          <ns0:cNvPr id="22" name=""/>
          <ns0:cNvPicPr>
            <ns1:picLocks noChangeAspect="1"/>
          </ns0:cNvPicPr>
          <ns0:nvPr/>
        </ns0:nvPicPr>
        <ns0:blipFill>
          <ns1:blip ns3:embed="R02670129b49b43fb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251715839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3D290A0C-953B-4C6A-9359-9F4ADFB7B1E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2B378CC4-3495-4601-9703-A45FA6373E89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65F4DC9-BF89-4F78-B28E-D42CA8A09A9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Участнику: люди и контакты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93E80CB-C274-46EA-870A-FFC1FA1D123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Каталог помогает найти специалиста, партнёра или подрядчика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D85B2052-F8FC-4816-AF61-E5D81DC4B0AA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B2090AC-E14B-4DCC-922E-94780878CEE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Поиск по участникам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0023E5D-76B6-43E3-AF41-916225AC875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Найти человека можно по имени, городу или специализации. Фотографии помогают быстрее узнать знакомых.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853C4632-3632-429C-B08E-6D21A774EEC4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8577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Подробная анкета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0A4BD02-8604-49B0-A360-BEBE9FBB7334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625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Опыт, компания, проекты и запросы на сотрудничество. Для связи предусмотрены телефон, WhatsApp, Telegram и Instagram.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8760CB00-5EBA-465E-A4C5-02488D86AFB6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162800"/>
            <ns1:ext cx="45720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0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0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В демонстрационных анкетах контакты пока заменены примерами.</ns1:t>
            </ns1:r>
          </ns1:p>
        </ns0:txBody>
      </ns0:sp>
      <ns0:pic>
        <ns0:nvPicPr>
          <ns0:cNvPr id="22" name=""/>
          <ns0:cNvPicPr>
            <ns1:picLocks noChangeAspect="1"/>
          </ns0:cNvPicPr>
          <ns0:nvPr/>
        </ns0:nvPicPr>
        <ns0:blipFill>
          <ns1:blip ns3:embed="R86b761097ab247d7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126734675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7E169EBE-4383-4F27-A82A-421470FC983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A7A8E003-FAE8-4E07-9018-0B316A0C6C38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2F5D083-21CC-4BA7-AA5C-D54303794AF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Участнику: библиотека и правила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CD73C75-88F6-4715-B334-338067F328E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Полезные материалы и условия участия собраны в одном месте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8E72DED-5031-4A16-BC8D-A9A9EBDE844F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2CD09E3-FF09-4B55-A1B0-2741D897CCB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Библиотека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D3307B6-7A29-4601-BE9E-706EF8A6090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Книги, видео, статьи и сервисы с описаниями и ссылками. Можно выбрать тему, найти материал и сохранить его в избранное.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142877A5-5673-40B2-8568-8D1E09A1351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8577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Правила клуба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DFDB68F-1B17-4139-A0A6-20DCC38ADDC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625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Все правила общения и условия вступления доступны в отдельном разделе. Не нужно искать старое сообщение в чате.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4B3A1E6-4CBC-4F0D-AD2A-B3BAFD43F55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077075"/>
            <ns1:ext cx="4572000" cy="800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Полезные ссылки остаются под рукой даже после активной переписки.</ns1:t>
            </ns1:r>
          </ns1:p>
        </ns0:txBody>
      </ns0:sp>
      <ns0:pic>
        <ns0:nvPicPr>
          <ns0:cNvPr id="22" name=""/>
          <ns0:cNvPicPr>
            <ns1:picLocks noChangeAspect="1"/>
          </ns0:cNvPicPr>
          <ns0:nvPr/>
        </ns0:nvPicPr>
        <ns0:blipFill>
          <ns1:blip ns3:embed="Rd9c372d3f4914273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1274017566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A8C029D8-7BBD-494E-BB4D-C3EC32142FB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3A48320-D007-4100-B159-2FF7D02C531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05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23D8EC1-AE09-4431-A536-43D967F6A55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Клуб в телефоне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68F22CE8-A813-4606-AEC6-999360E5EA1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Те же разделы адаптированы под небольшой экран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169784F-651F-4180-9C8B-DF222A3E2312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2699F0A-A7E1-4B03-A999-71B867FE5BC2}"/>
              </ns1:ext>
            </ns1:extLst>
          </ns0:cNvPr>
          <ns0:cNvSpPr>
            <ns1:spLocks noGrp="1"/>
          </ns0:cNvSpPr>
          <ns0:nvPr/>
        </ns0:nvSpPr>
        <ns0:spPr>
          <ns1:xfrm>
            <ns1:off x="1381601" y="2516632"/>
            <ns1:ext cx="2284095" cy="5157464"/>
          </ns1:xfrm>
          <ns1:prstGeom prst="roundRect">
            <ns1:avLst>
              <ns1:gd name="adj" fmla="val 3336"/>
            </ns1:avLst>
          </ns1:prstGeom>
          <ns1:solidFill>
            <ns1:srgbClr val="211F2A"/>
          </ns1:solidFill>
          <ns1:ln w="0">
            <ns1:noFill/>
          </ns1:ln>
        </ns0:spPr>
      </ns0:sp>
      <ns0:pic>
        <ns0:nvPicPr>
          <ns0:cNvPr id="23" name=""/>
          <ns0:cNvPicPr>
            <ns1:picLocks noChangeAspect="1"/>
          </ns0:cNvPicPr>
          <ns0:nvPr/>
        </ns0:nvPicPr>
        <ns0:blipFill>
          <ns1:blip ns3:embed="R5874d7ce024e4fbc"/>
          <ns1:stretch/>
        </ns0:blipFill>
        <ns0:spPr>
          <ns1:xfrm>
            <ns1:off x="1381601" y="2704268"/>
            <ns1:ext cx="2284095" cy="4943016"/>
          </ns1:xfrm>
          <ns1:prstGeom prst="roundRect">
            <ns1:avLst>
              <ns1:gd name="adj" fmla="val 6255"/>
            </ns1:avLst>
          </ns1:prstGeom>
        </ns0:spPr>
      </ns0:pic>
      <ns0:pic>
        <ns0:nvPicPr>
          <ns0:cNvPr id="24" name=""/>
          <ns0:cNvPicPr>
            <ns1:picLocks noChangeAspect="1"/>
          </ns0:cNvPicPr>
          <ns0:nvPr/>
        </ns0:nvPicPr>
        <ns0:blipFill>
          <ns1:blip ns3:embed="R70299c55661f49a4"/>
          <ns1:stretch/>
        </ns0:blipFill>
        <ns0:spPr>
          <ns1:xfrm>
            <ns1:off x="1219200" y="2333625"/>
            <ns1:ext cx="2619375" cy="5545661"/>
          </ns1:xfrm>
          <ns1:prstGeom prst="rect">
            <ns1:avLst/>
          </ns1:prstGeom>
        </ns0:spPr>
      </ns0:pic>
      <ns0:sp>
        <ns0:nvSpPr>
          <ns0:cNvPr id="9" name="">
            <ns1:extLst>
              <ns1:ext uri="{FF2B5EF4-FFF2-40B4-BE49-F238E27FC236}">
                <ns2:creationId id="{9F5C5859-780B-49F2-9D88-4B83D18B8804}"/>
              </ns1:ext>
            </ns1:extLst>
          </ns0:cNvPr>
          <ns0:cNvSpPr>
            <ns1:spLocks noGrp="1"/>
          </ns0:cNvSpPr>
          <ns0:nvPr/>
        </ns0:nvSpPr>
        <ns0:spPr>
          <ns1:xfrm>
            <ns1:off x="8658701" y="2516632"/>
            <ns1:ext cx="2284095" cy="5157464"/>
          </ns1:xfrm>
          <ns1:prstGeom prst="roundRect">
            <ns1:avLst>
              <ns1:gd name="adj" fmla="val 3336"/>
            </ns1:avLst>
          </ns1:prstGeom>
          <ns1:solidFill>
            <ns1:srgbClr val="211F2A"/>
          </ns1:solidFill>
          <ns1:ln w="0">
            <ns1:noFill/>
          </ns1:ln>
        </ns0:spPr>
      </ns0:sp>
      <ns0:pic>
        <ns0:nvPicPr>
          <ns0:cNvPr id="26" name=""/>
          <ns0:cNvPicPr>
            <ns1:picLocks noChangeAspect="1"/>
          </ns0:cNvPicPr>
          <ns0:nvPr/>
        </ns0:nvPicPr>
        <ns0:blipFill>
          <ns1:blip ns3:embed="Rb20978bfcdbb41b5"/>
          <ns1:stretch/>
        </ns0:blipFill>
        <ns0:spPr>
          <ns1:xfrm>
            <ns1:off x="8658701" y="2704268"/>
            <ns1:ext cx="2284095" cy="4943016"/>
          </ns1:xfrm>
          <ns1:prstGeom prst="roundRect">
            <ns1:avLst>
              <ns1:gd name="adj" fmla="val 6255"/>
            </ns1:avLst>
          </ns1:prstGeom>
        </ns0:spPr>
      </ns0:pic>
      <ns0:pic>
        <ns0:nvPicPr>
          <ns0:cNvPr id="27" name=""/>
          <ns0:cNvPicPr>
            <ns1:picLocks noChangeAspect="1"/>
          </ns0:cNvPicPr>
          <ns0:nvPr/>
        </ns0:nvPicPr>
        <ns0:blipFill>
          <ns1:blip ns3:embed="R7b74975adb0f449a"/>
          <ns1:stretch/>
        </ns0:blipFill>
        <ns0:spPr>
          <ns1:xfrm>
            <ns1:off x="8496300" y="2333625"/>
            <ns1:ext cx="2619375" cy="5545661"/>
          </ns1:xfrm>
          <ns1:prstGeom prst="rect">
            <ns1:avLst/>
          </ns1:prstGeom>
        </ns0:spPr>
      </ns0:pic>
      <ns0:sp>
        <ns0:nvSpPr>
          <ns0:cNvPr id="12" name="">
            <ns1:extLst>
              <ns1:ext uri="{FF2B5EF4-FFF2-40B4-BE49-F238E27FC236}">
                <ns2:creationId id="{60121465-5C7E-411D-B514-7A03573E2F92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2762250"/>
            <ns1:ext cx="333375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475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2475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Участник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F026A21-4D57-46D1-9D4A-287161515B5E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3457575"/>
            <ns1:ext cx="3190875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Ищет людей и открывает анкеты.</ns1:t>
            </ns1:r>
          </ns1:p>
          <ns1:p>
            <ns1:r>
              <ns1:t/>
            </ns1:r>
          </ns1:p>
          <ns1:p>
            <ns1:pPr>
              <ns1:def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Читает правила, находит материалы и обновляет информацию о себе.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EC398C8-62BB-44F2-B36C-B3C434678E8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2762250"/>
            <ns1:ext cx="3190875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40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240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Администратор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A23CAC14-1381-4373-81A9-E26824EFF62F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3457575"/>
            <ns1:ext cx="3190875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Смотрит участников и проверяет оплаты.</ns1:t>
            </ns1:r>
          </ns1:p>
          <ns1:p>
            <ns1:r>
              <ns1:t/>
            </ns1:r>
          </ns1:p>
          <ns1:p>
            <ns1:pPr>
              <ns1:def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Записывает замечания и редактирует информацию клуба.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4E074B7E-B972-4E6D-BE55-ACEB545C7586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7000875"/>
            <ns1:ext cx="3524250" cy="8477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Светлая и тёмная темы доступны и на телефоне.</ns1:t>
            </ns1:r>
          </ns1:p>
        </ns0:txBody>
      </ns0:sp>
    </ns0:spTree>
    <ns0:extLst>
      <ns0:ext uri="{BB962C8B-B14F-4D97-AF65-F5344CB8AC3E}">
        <ns4:creationId val="1366758561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BC15CB77-5606-4B10-ABDF-6710B7B4063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61481EFB-8045-4E34-8A78-CE45E2A6CBB1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06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936D2B1-B780-4BB1-8D65-1DE3F670E4F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Администратору: участники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79B1699-95D7-48D7-86EA-D93E6F44219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Работа с составом клуба вместо разрозненных таблиц и сообщений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D4A8ED71-BD3B-41A0-B397-A23D037AE1D0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B7DAA52-6E24-4EC3-BA09-68B19EE4D3C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Заявки на вступление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5EF9224F-E4A7-486C-B374-3088CE4DDA6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Посмотреть данные кандидата и принять решение. В анкете собрана информация, которую обычно присылают сообщением.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3C062E2-0379-4D7A-AA1C-995C9676793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8577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Управление составом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E39F8F0A-5531-43F6-B92E-A22B998566F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625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Добавлять людей, открывать и редактировать анкеты. Находить нужного участника и исключать его из клуба.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81C03BF0-43CA-4468-8885-7D5D5CFCF5A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143750"/>
            <ns1:ext cx="4572000" cy="800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Участникам и администратору доступны разные действия.</ns1:t>
            </ns1:r>
          </ns1:p>
        </ns0:txBody>
      </ns0:sp>
      <ns0:pic>
        <ns0:nvPicPr>
          <ns0:cNvPr id="22" name=""/>
          <ns0:cNvPicPr>
            <ns1:picLocks noChangeAspect="1"/>
          </ns0:cNvPicPr>
          <ns0:nvPr/>
        </ns0:nvPicPr>
        <ns0:blipFill>
          <ns1:blip ns3:embed="R3041e6e2d1f64443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794764139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5459FC3D-3CFC-4DE1-8DF2-E189AC3C1BC5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89EC05D1-1396-474C-B67F-179E354B9CF5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07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83EC3D1F-139F-42D4-8993-EB1F9796878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Администратору: членские взносы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13D47DE0-D690-41E7-805C-5F3510C4E39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Понятно, кто оплатил участие и кому скоро нужно продление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9BD08B4-D266-4052-B547-DDA5311C55DA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A302AF9-2D73-4571-97F5-AB3E42A9194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Поиск и учёт оплат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84B3211E-94F0-496A-B94F-F33BDAA8415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Найти участника по имени, записать взнос и посмотреть, до какой даты оплачено членство.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F4883C81-E47F-463D-9C82-B14D6594AC4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810125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Важные сроки сверху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70DC7B96-97F1-4FD3-A434-CE14EDE3D7A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14950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Просрочки и взносы, которые заканчиваются в ближайшие 14 дней, поднимаются вверх и выделяются красным.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921EF46C-1C18-4BB1-AB86-744E1816B0DF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6991350"/>
            <ns1:ext cx="45720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Проще составить список тех, кому нужно напомнить о продлении.</ns1:t>
            </ns1:r>
          </ns1:p>
        </ns0:txBody>
      </ns0:sp>
      <ns0:pic>
        <ns0:nvPicPr>
          <ns0:cNvPr id="22" name=""/>
          <ns0:cNvPicPr>
            <ns1:picLocks noChangeAspect="1"/>
          </ns0:cNvPicPr>
          <ns0:nvPr/>
        </ns0:nvPicPr>
        <ns0:blipFill>
          <ns1:blip ns3:embed="R0e26ae70c7a64e53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1157724789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19D8E798-E02F-4A5D-83CD-136CA87C8C9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8C6DDCB-8B40-46CB-82DB-714396DA6A32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08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58EA78BE-9A59-4A0C-ACD2-967D98B9AA0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Администратору: замечания и штрафы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87F2551-23E9-4C07-A50C-87793B546E0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История нарушений по каждому участнику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D34FF03-68AF-4782-9B17-7964DA6D5366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1FB8B352-4C9C-493B-B964-78DEA8D458E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Поиск и новые записи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2970844-9D07-45A9-AC18-9E31C74711F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Найти человека по имени и добавить замечание или штраф. Историю можно посмотреть в одном разделе.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4FBF0BB-C073-4BF3-B570-7D7E0DBCF00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810125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Уведомление после трёх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5DFF1EF4-9181-4B3F-A6E1-CF54439A03D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314950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Когда набирается три записи, система показывает, что участника пора удалить из группы.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85C3248-7BFA-4CA8-B71F-1A3D3C7676D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019925"/>
            <ns1:ext cx="4572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Удаление из WhatsApp пока выполняет администратор вручную.</ns1:t>
            </ns1:r>
          </ns1:p>
        </ns0:txBody>
      </ns0:sp>
      <ns0:pic>
        <ns0:nvPicPr>
          <ns0:cNvPr id="22" name=""/>
          <ns0:cNvPicPr>
            <ns1:picLocks noChangeAspect="1"/>
          </ns0:cNvPicPr>
          <ns0:nvPr/>
        </ns0:nvPicPr>
        <ns0:blipFill>
          <ns1:blip ns3:embed="R5728a1d1e87247c3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1043862696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">
            <ns1:extLst>
              <ns1:ext uri="{FF2B5EF4-FFF2-40B4-BE49-F238E27FC236}">
                <ns2:creationId id="{2539D81B-6461-4673-8BB5-CDFDAF72B3E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56D79E2-8E7C-4622-977F-7EED391C89A9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09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47979428-0721-4592-8EB3-BFF2E02E014F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Администратору: содержание клуба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D69B377E-2631-4745-9F98-57A001AEF57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Информацию можно обновлять самостоятельно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7F4D9F0-EC20-474A-98FB-8FCDEECC080A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89FE8D0-BDD5-4B50-A4BC-C4FC5E2DCF5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66700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Главная плашка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29BE8E8-3150-4538-8A14-72867C60C6C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17182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Менять заголовок и текст анонса, дату и место встречи. Добавлять кнопку со ссылкой на подробности.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912EE9F-0449-465A-8248-F82F0DA95E5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667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Правила и библиотека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0FEA7DD-2C98-4B24-9D3C-C0DCAAC2ABF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172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Добавлять, редактировать и удалять правила. Пополнять библиотеку книгами, видео и полезными ссылками.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0367A67C-991B-4908-9A6F-6BEDA34621DC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6848475"/>
            <ns1:ext cx="4476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250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250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Настройки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27A2DA60-600C-49DF-BDCA-4EBC71DB069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334250"/>
            <ns1:ext cx="4572000" cy="647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Данный раздел ещё в разработке.</ns1:t>
            </ns1:r>
          </ns1:p>
        </ns0:txBody>
      </ns0:sp>
      <ns0:pic>
        <ns0:nvPicPr>
          <ns0:cNvPr id="24" name=""/>
          <ns0:cNvPicPr>
            <ns1:picLocks noChangeAspect="1"/>
          </ns0:cNvPicPr>
          <ns0:nvPr/>
        </ns0:nvPicPr>
        <ns0:blipFill>
          <ns1:blip ns3:embed="R984255b6335948ce"/>
          <ns1:stretch/>
        </ns0:blipFill>
        <ns0:spPr>
          <ns1:xfrm>
            <ns1:off x="6193155" y="2524125"/>
            <ns1:ext cx="8092440" cy="5619750"/>
          </ns1:xfrm>
          <ns1:prstGeom prst="roundRect">
            <ns1:avLst>
              <ns1:gd name="adj" fmla="val 2373"/>
            </ns1:avLst>
          </ns1:prstGeom>
        </ns0:spPr>
      </ns0:pic>
    </ns0:spTree>
    <ns0:extLst>
      <ns0:ext uri="{BB962C8B-B14F-4D97-AF65-F5344CB8AC3E}">
        <ns4:creationId val="905570461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41B8F5D8-99B7-4D2D-B7E7-28B33157199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8B2BE19E-6151-4421-8972-AE2BBDA80815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10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10C61FE-B82B-4746-8999-9605399DBC84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Светлая и тёмная темы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57D1A4C-2223-4F27-93A8-070116F4A4D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Один и тот же сервис в двух вариантах оформления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E28EBB8-02BA-40BA-8F21-AEC93E20CB35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37484735-C300-4EAF-B30D-079D11F0BB7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447925"/>
            <ns1:ext cx="65722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40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240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Светлая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1984BAAF-01B9-49BA-864A-A97E276BC1CB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2447925"/>
            <ns1:ext cx="65722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40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240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Тёмная</ns1:t>
            </ns1:r>
          </ns1:p>
        </ns0:txBody>
      </ns0:sp>
      <ns0:pic>
        <ns0:nvPicPr>
          <ns0:cNvPr id="18" name=""/>
          <ns0:cNvPicPr>
            <ns1:picLocks noChangeAspect="1"/>
          </ns0:cNvPicPr>
          <ns0:nvPr/>
        </ns0:nvPicPr>
        <ns0:blipFill>
          <ns1:blip ns3:embed="R0a420ddff3514457"/>
          <ns1:stretch/>
        </ns0:blipFill>
        <ns0:spPr>
          <ns1:xfrm>
            <ns1:off x="619887" y="3038475"/>
            <ns1:ext cx="6665976" cy="4629150"/>
          </ns1:xfrm>
          <ns1:prstGeom prst="roundRect">
            <ns1:avLst>
              <ns1:gd name="adj" fmla="val 2469"/>
            </ns1:avLst>
          </ns1:prstGeom>
        </ns0:spPr>
      </ns0:pic>
      <ns0:pic>
        <ns0:nvPicPr>
          <ns0:cNvPr id="19" name=""/>
          <ns0:cNvPicPr>
            <ns1:picLocks noChangeAspect="1"/>
          </ns0:cNvPicPr>
          <ns0:nvPr/>
        </ns0:nvPicPr>
        <ns0:blipFill>
          <ns1:blip ns3:embed="Rc3d15bcefe6447b2"/>
          <ns1:stretch/>
        </ns0:blipFill>
        <ns0:spPr>
          <ns1:xfrm>
            <ns1:off x="7954137" y="3038475"/>
            <ns1:ext cx="6665976" cy="4629150"/>
          </ns1:xfrm>
          <ns1:prstGeom prst="roundRect">
            <ns1:avLst>
              <ns1:gd name="adj" fmla="val 2469"/>
            </ns1:avLst>
          </ns1:prstGeom>
        </ns0:spPr>
      </ns0:pic>
      <ns0:sp>
        <ns0:nvSpPr>
          <ns0:cNvPr id="10" name="">
            <ns1:extLst>
              <ns1:ext uri="{FF2B5EF4-FFF2-40B4-BE49-F238E27FC236}">
                <ns2:creationId id="{43B90611-7D23-47E1-90DD-B1A5B8C53E9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743825"/>
            <ns1:ext cx="1400175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Тема меняется переключателем. Выбор сохраняется в браузере.</ns1:t>
            </ns1:r>
          </ns1:p>
        </ns0:txBody>
      </ns0:sp>
    </ns0:spTree>
    <ns0:extLst>
      <ns0:ext uri="{BB962C8B-B14F-4D97-AF65-F5344CB8AC3E}">
        <ns4:creationId val="1513353635"/>
      </ns0:ext>
    </ns0:extLst>
  </ns0:cSld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">
            <ns1:extLst>
              <ns1:ext uri="{FF2B5EF4-FFF2-40B4-BE49-F238E27FC236}">
                <ns2:creationId id="{C5B5804C-7EBB-4425-AE26-04B9654C0DA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345F105-91A0-4B98-AB00-AFAD3C6C16D6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11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2C72B2D-8B71-4BE9-AAD0-2CB1C7EFF88C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Возможности подключения WhatsApp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7CB3FA2-9356-4F67-9647-FAB42A707E6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Пример будущего блока с перепиской и автоматическими напоминаниями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40E618FF-606C-4ED6-AD20-C56278205284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F3E6CD1-E9A7-4897-B527-75B45C7B793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Сообщения в одном месте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534833A0-DEC1-47DA-B41D-6C8F68F4AEC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Переписка с участниками и быстрые ответы на вопросы о клубе, взносах и встречах.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99AFEBC-66B6-4919-8BCB-94F7F5EBF98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762500"/>
            <ns1:ext cx="4572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Напоминания об оплате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72E11B97-7175-4F9F-904C-98222983B67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267325"/>
            <ns1:ext cx="457200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Сообщение о продлении может уходить автоматически. Участник получает понятную инструкцию и ссылку.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81DF8A9C-C7A9-4DE0-8A71-1C0D6AD5285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048500"/>
            <ns1:ext cx="4572000" cy="9048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Работу с существующим групповым чатом уточним при подключении.</ns1:t>
            </ns1:r>
          </ns1:p>
        </ns0:txBody>
      </ns0:sp>
      <ns0:pic>
        <ns0:nvPicPr>
          <ns0:cNvPr id="25" name=""/>
          <ns0:cNvPicPr>
            <ns1:picLocks noChangeAspect="1"/>
          </ns0:cNvPicPr>
          <ns0:nvPr/>
        </ns0:nvPicPr>
        <ns0:blipFill>
          <ns1:blip ns3:embed="Raa0b33742d7a46d2"/>
          <ns1:stretch/>
        </ns0:blipFill>
        <ns0:spPr>
          <ns1:xfrm>
            <ns1:off x="5953125" y="2525713"/>
            <ns1:ext cx="8667750" cy="5778500"/>
          </ns1:xfrm>
          <ns1:prstGeom prst="rect">
            <ns1:avLst/>
          </ns1:prstGeom>
        </ns0:spPr>
      </ns0:pic>
      <ns0:sp>
        <ns0:nvSpPr>
          <ns0:cNvPr id="12" name="">
            <ns1:extLst>
              <ns1:ext uri="{FF2B5EF4-FFF2-40B4-BE49-F238E27FC236}">
                <ns2:creationId id="{9D3C77B0-26DA-4142-81FB-8A241EE36985}"/>
              </ns1:ext>
            </ns1:extLst>
          </ns0:cNvPr>
          <ns0:cNvSpPr>
            <ns1:spLocks noGrp="1"/>
          </ns0:cNvSpPr>
          <ns0:nvPr/>
        </ns0:nvSpPr>
        <ns0:spPr>
          <ns1:xfrm>
            <ns1:off x="11582400" y="2524125"/>
            <ns1:ext cx="3038475" cy="561975"/>
          </ns1:xfrm>
          <ns1:prstGeom prst="rect">
            <ns1:avLst/>
          </ns1:prstGeom>
          <ns1:solidFill>
            <ns1:srgbClr val="FFFFFF"/>
          </ns1:solidFill>
          <ns1:ln w="0">
            <ns1:noFill/>
          </ns1:ln>
        </ns0:spPr>
      </ns0:sp>
      <ns0:pic>
        <ns0:nvPicPr>
          <ns0:cNvPr id="27" name=""/>
          <ns0:cNvPicPr>
            <ns1:picLocks noChangeAspect="1"/>
          </ns0:cNvPicPr>
          <ns0:nvPr/>
        </ns0:nvPicPr>
        <ns0:blipFill>
          <ns1:blip ns3:embed="R5b853ae38e2b45ed"/>
          <ns1:stretch/>
        </ns0:blipFill>
        <ns0:spPr>
          <ns1:xfrm>
            <ns1:off x="11715750" y="2581275"/>
            <ns1:ext cx="419100" cy="419100"/>
          </ns1:xfrm>
          <ns1:prstGeom prst="ellipse">
            <ns1:avLst/>
          </ns1:prstGeom>
        </ns0:spPr>
      </ns0:pic>
      <ns0:sp>
        <ns0:nvSpPr>
          <ns0:cNvPr id="14" name="">
            <ns1:extLst>
              <ns1:ext uri="{FF2B5EF4-FFF2-40B4-BE49-F238E27FC236}">
                <ns2:creationId id="{4364518B-664B-4020-B67D-971BAE469D96}"/>
              </ns1:ext>
            </ns1:extLst>
          </ns0:cNvPr>
          <ns0:cNvSpPr>
            <ns1:spLocks noGrp="1"/>
          </ns0:cNvSpPr>
          <ns0:nvPr/>
        </ns0:nvSpPr>
        <ns0:spPr>
          <ns1:xfrm>
            <ns1:off x="12315825" y="2705100"/>
            <ns1:ext cx="2190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</ns0:spTree>
    <ns0:extLst>
      <ns0:ext uri="{BB962C8B-B14F-4D97-AF65-F5344CB8AC3E}">
        <ns4:creationId val="2036158508"/>
      </ns0:ext>
    </ns0:extLst>
  </ns0:cSld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85AF4C04-D1DC-415F-AD6F-AA423626ADB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EE94A5B-31E9-45C5-B015-2DAAD808256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12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AC4D1F8-A257-46E6-B44D-1F835F5677C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Администратору: Instagram клуба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BBA3F95-BD83-423B-AEB6-CC75293064B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Возможный раздел внутри платформы Marketing Club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FABA97E-C514-47B9-BE45-0FB4157D28B5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053BF7D-696E-4D77-87D0-79F476004C0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0957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Публикации аккаунта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E3B42C3-4265-4BFF-9252-D019A5BCE18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09575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Посты и рилсы @marketing.dagestan.ru собраны в одной ленте. Можно открыть публикацию и перейти к её статистике.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4114094-B46D-4855-B5A3-5277AAAC19D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4953000"/>
            <ns1:ext cx="40957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Управление контентом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74F1BF16-819D-4812-835A-E399CB5B0D4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457825"/>
            <ns1:ext cx="409575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Из этого же раздела администратор создаёт новые публикации и переходит к плану на месяц.</ns1:t>
            </ns1:r>
          </ns1:p>
        </ns0:txBody>
      </ns0:sp>
      <ns0:pic>
        <ns0:nvPicPr>
          <ns0:cNvPr id="20" name=""/>
          <ns0:cNvPicPr>
            <ns1:picLocks noChangeAspect="1"/>
          </ns0:cNvPicPr>
          <ns0:nvPr/>
        </ns0:nvPicPr>
        <ns0:blipFill>
          <ns1:blip ns3:embed="Rf68ecd82f6c544cc"/>
          <ns1:stretch/>
        </ns0:blipFill>
        <ns0:spPr>
          <ns1:xfrm>
            <ns1:off x="6097143" y="2352675"/>
            <ns1:ext cx="8284464" cy="5753100"/>
          </ns1:xfrm>
          <ns1:prstGeom prst="rect">
            <ns1:avLst/>
          </ns1:prstGeom>
        </ns0:spPr>
      </ns0:pic>
    </ns0:spTree>
    <ns0:extLst>
      <ns0:ext uri="{BB962C8B-B14F-4D97-AF65-F5344CB8AC3E}">
        <ns4:creationId val="118900040"/>
      </ns0:ext>
    </ns0:extLst>
  </ns0:cSld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D66830B0-CA91-4EE2-9A87-FDD9E4CC6E6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FC16758B-09EB-4197-840E-63CD38427F70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13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253866B-5B9E-4D84-8F53-C2AAC8FABF4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Администратору: статистика публикаций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6CC2F54-769F-4E02-9807-42244EB30DE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Понятные показатели по каждому посту и рилсу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5EFA319-AC56-4C8E-B941-B30F541B6E07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2FDFE0F-DE6D-483C-B758-3CC3FEA0166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0957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Что можно увидеть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165F036-FC50-4B5A-A1B9-E0B8BEFD691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09575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Просмотры и охват, лайки и комментарии. Сохранения и репосты помогают понять, какой контент интересен аудитории.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B035F66F-E1BB-4B6F-B71A-444491BB54C1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143500"/>
            <ns1:ext cx="40957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Данные своего аккаунта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C3D7EDA4-09A3-4634-A2F0-709350C9DCFF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648325"/>
            <ns1:ext cx="409575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Статистика появится после подключения Instagram клуба и предоставления доступа. На макете значения пока не заполнены.</ns1:t>
            </ns1:r>
          </ns1:p>
        </ns0:txBody>
      </ns0:sp>
      <ns0:pic>
        <ns0:nvPicPr>
          <ns0:cNvPr id="20" name=""/>
          <ns0:cNvPicPr>
            <ns1:picLocks noChangeAspect="1"/>
          </ns0:cNvPicPr>
          <ns0:nvPr/>
        </ns0:nvPicPr>
        <ns0:blipFill>
          <ns1:blip ns3:embed="Ra30db518ee984dbe"/>
          <ns1:stretch/>
        </ns0:blipFill>
        <ns0:spPr>
          <ns1:xfrm>
            <ns1:off x="6097143" y="2352675"/>
            <ns1:ext cx="8284464" cy="5753100"/>
          </ns1:xfrm>
          <ns1:prstGeom prst="rect">
            <ns1:avLst/>
          </ns1:prstGeom>
        </ns0:spPr>
      </ns0:pic>
    </ns0:spTree>
    <ns0:extLst>
      <ns0:ext uri="{BB962C8B-B14F-4D97-AF65-F5344CB8AC3E}">
        <ns4:creationId val="2080708867"/>
      </ns0:ext>
    </ns0:extLst>
  </ns0:cSld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9B561849-8001-4447-8BF0-907EB0E4AE1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8CBAF8A-9873-4569-B12C-B70531E17E94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14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694108A-7A9C-4247-8582-3087F0C3E7E4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942975"/>
            <ns1:ext cx="13716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435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Контент на месяц вперёд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4D84C06A-FF64-4642-A197-7245C6B66F74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1724025"/>
            <ns1:ext cx="13716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Возможный контент-план и автопостинг для администратора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755C4BC-6A33-41EE-B49E-F1F86CF34AC6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19125" y="8162925"/>
            <ns1:ext cx="3333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подготовлено xxvii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E8207AE-3217-4A9E-9FF2-63CE9AE7434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762250"/>
            <ns1:ext cx="40957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Подготовить заранее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DDF58D8-BF66-43E4-A192-B96570A24C7B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267075"/>
            <ns1:ext cx="409575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Загрузить фото, видео и тексты на месяц. Добавить подписи и обложки, назначить день и время каждой публикации.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BC23163-DAE5-4D76-AB4C-44188ADEABA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048250"/>
            <ns1:ext cx="40957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Автопостинг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3A6AECB7-796B-4041-B2C5-5F8A3706BA1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5553075"/>
            <ns1:ext cx="4095750" cy="126682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После подключения аккаунта система сможет выпускать материалы по расписанию. Администратор видит план и статус публикаций.</ns1:t>
            </ns1:r>
          </ns1:p>
        </ns0:txBody>
      </ns0:sp>
      <ns0:pic>
        <ns0:nvPicPr>
          <ns0:cNvPr id="20" name=""/>
          <ns0:cNvPicPr>
            <ns1:picLocks noChangeAspect="1"/>
          </ns0:cNvPicPr>
          <ns0:nvPr/>
        </ns0:nvPicPr>
        <ns0:blipFill>
          <ns1:blip ns3:embed="Rd3a7d1276bbe4bec"/>
          <ns1:stretch/>
        </ns0:blipFill>
        <ns0:spPr>
          <ns1:xfrm>
            <ns1:off x="6097143" y="2352675"/>
            <ns1:ext cx="8284464" cy="5753100"/>
          </ns1:xfrm>
          <ns1:prstGeom prst="rect">
            <ns1:avLst/>
          </ns1:prstGeom>
        </ns0:spPr>
      </ns0:pic>
    </ns0:spTree>
    <ns0:extLst>
      <ns0:ext uri="{BB962C8B-B14F-4D97-AF65-F5344CB8AC3E}">
        <ns4:creationId val="1218679398"/>
      </ns0:ext>
    </ns0:extLst>
  </ns0:cSld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AF8F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50CA2062-42AB-4437-8866-5EA3AE43C43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33375"/>
            <ns1:ext cx="4762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MARKETING CLUB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6F06DAE-09A9-4D6C-BD4F-6936A6BC1004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0" y="333375"/>
            <ns1:ext cx="61912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15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9F136FA-E12B-4F3E-90B9-E7667C6A36F0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2019300"/>
            <ns1:ext cx="13430250" cy="13906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390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390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Презентация подготовлена</ns1:t>
            </ns1:r>
          </ns1:p>
          <ns1:p>
            <ns1:pPr>
              <ns1:defRPr sz="3900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3900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и система разработана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5DC7C96-A045-46B0-AE56-53E3B37C469E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571500" y="3676650"/>
            <ns1:ext cx="13049250" cy="20193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2750" b="1">
                <ns1:solidFill>
                  <ns1:srgbClr val="7140CC"/>
                </ns1:solidFill>
                <ns1:latin typeface="Arial"/>
                <ns1:ea typeface="Arial"/>
                <ns1:cs typeface="Arial"/>
              </ns1:defRPr>
            </ns1:pPr>
            <ns1:r>
              <ns1:rPr sz="12750" b="1">
                <ns1:solidFill>
                  <ns1:srgbClr val="7140CC"/>
                </ns1:solidFill>
                <ns1:latin typeface="Arial"/>
                <ns1:ea typeface="Arial"/>
                <ns1:cs typeface="Arial"/>
              </ns1:rPr>
              <ns1:t>xxvii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0955CC18-4540-465B-A963-9ABBB1C69C7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677025"/>
            <ns1:ext cx="47625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1950" b="0">
                <ns1:solidFill>
                  <ns1:srgbClr val="756B81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756B81"/>
                </ns1:solidFill>
                <ns1:latin typeface="Arial"/>
                <ns1:ea typeface="Arial"/>
                <ns1:cs typeface="Arial"/>
              </ns1:rPr>
              <ns1:t>Telegram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1FF0CEF-BDD0-41A4-89DB-4403DB9DA02B}"/>
              </ns1:ext>
            </ns1:extLst>
            <ns1:hlinkClick ns3:id="rIdAuthorTelegram"/>
          </ns0:cNvPr>
          <ns0:cNvSpPr>
            <ns1:spLocks noGrp="1"/>
          </ns0:cNvSpPr>
          <ns0:nvPr/>
        </ns0:nvSpPr>
        <ns0:spPr>
          <ns1:xfrm>
            <ns1:off x="647700" y="7172325"/>
            <ns1:ext cx="104775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>
            <ns1:noAutofit/>
          </ns1:bodyPr>
          <ns1:lstStyle/>
          <ns1:p>
            <ns1:pPr>
              <ns1:defRPr sz="3225" b="0">
                <ns1:solidFill>
                  <ns1:srgbClr val="282232"/>
                </ns1:solidFill>
                <ns1:latin typeface="Arial"/>
                <ns1:ea typeface="Arial"/>
                <ns1:cs typeface="Arial"/>
              </ns1:defRPr>
            </ns1:pPr>
            <ns1:r>
              <ns1:rPr sz="3225" b="0">
                <ns1:solidFill>
                  <ns1:srgbClr val="282232"/>
                </ns1:solidFill>
                <ns1:latin typeface="Arial"/>
                <ns1:ea typeface="Arial"/>
                <ns1:cs typeface="Arial"/>
              </ns1:rPr>
              <ns1:t>t.me/xxvii</ns1:t>
            </ns1:r>
          </ns1:p>
        </ns0:txBody>
      </ns0:sp>
    </ns0:spTree>
    <ns0:extLst>
      <ns0:ext uri="{BB962C8B-B14F-4D97-AF65-F5344CB8AC3E}">
        <ns4:creationId val="74605649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xxvii</dc:creator>
  <ns0:lastModifiedBy>xxvii</ns0:lastModifiedBy>
  <dc:title>Marketing Club</dc:title>
  <ns2:created xsi:type="dcterms:W3CDTF">2026-10-05T18:49:35.6230000Z</ns2:created>
  <ns2:modified xsi:type="dcterms:W3CDTF">2026-10-05T18:49:35.6230000Z</ns2:modified>
</ns0:coreProperties>
</file>